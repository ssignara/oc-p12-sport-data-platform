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69" r:id="rId7"/>
    <p:sldId id="259" r:id="rId8"/>
    <p:sldId id="270" r:id="rId9"/>
    <p:sldId id="260" r:id="rId10"/>
    <p:sldId id="265" r:id="rId11"/>
    <p:sldId id="266" r:id="rId12"/>
    <p:sldId id="264" r:id="rId13"/>
    <p:sldId id="263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6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3"/>
    <p:restoredTop sz="94623"/>
  </p:normalViewPr>
  <p:slideViewPr>
    <p:cSldViewPr snapToGrid="0">
      <p:cViewPr varScale="1">
        <p:scale>
          <a:sx n="74" d="100"/>
          <a:sy n="74" d="100"/>
        </p:scale>
        <p:origin x="17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F1980-BB89-6547-8F87-EAB70BA18356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663DE-87BE-2D4D-B38C-A39C3643DF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2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663DE-87BE-2D4D-B38C-A39C3643DF7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5316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663DE-87BE-2D4D-B38C-A39C3643DF7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609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B8B9-E9C7-5FB4-2CC8-25A4F1CA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DFE331-579F-D0B7-E6F3-C4312C54B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2CFA58-8738-9E71-5897-00840C8BD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8BAB4D-289D-E136-6703-725005F0D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663DE-87BE-2D4D-B38C-A39C3643DF7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73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94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03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67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56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06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65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43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69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94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07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4404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051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4108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154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310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70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485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C8022-9027-73C9-CE9F-99E9F3CA5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2238452"/>
          </a:xfrm>
        </p:spPr>
        <p:txBody>
          <a:bodyPr/>
          <a:lstStyle/>
          <a:p>
            <a:r>
              <a:rPr lang="fr-FR" sz="66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Conception d'une plateforme de traitement de données sportives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D53E07-FBB3-92B4-B3DD-641150E4B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817326"/>
            <a:ext cx="7766936" cy="1471961"/>
          </a:xfrm>
        </p:spPr>
        <p:txBody>
          <a:bodyPr>
            <a:normAutofit/>
          </a:bodyPr>
          <a:lstStyle/>
          <a:p>
            <a: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Projet 12 – Parcours Data Engineer – </a:t>
            </a:r>
            <a:r>
              <a:rPr lang="fr-FR" sz="2000" i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OpenClassrooms</a:t>
            </a:r>
            <a:b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Sokhna Signara Gueye</a:t>
            </a:r>
            <a:b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Juillet 2026</a:t>
            </a:r>
          </a:p>
        </p:txBody>
      </p:sp>
    </p:spTree>
    <p:extLst>
      <p:ext uri="{BB962C8B-B14F-4D97-AF65-F5344CB8AC3E}">
        <p14:creationId xmlns:p14="http://schemas.microsoft.com/office/powerpoint/2010/main" val="35688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2F075F-0F55-E589-86CC-209ECCAC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51097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Contexte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DBEF1B2-BB60-4E14-4D1F-3E97B45E7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1925406"/>
            <a:ext cx="5668373" cy="4175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Juliette, responsable RH, souhaite mettre en place un programme de bien-être afin d'encourager l’activité physique des collaborateurs.</a:t>
            </a: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Pour accompagner cette initiative, elle souhaite disposer d'une plateforme capable de centraliser ces activités afin de :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Suivre la participation des salariés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Calculer automatiquement les primes associées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Produire des indicateurs RH fiables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Notifier les nouvelles activités en temps réel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75C0461-1198-C41B-452B-F2A25547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14"/>
          <a:stretch>
            <a:fillRect/>
          </a:stretch>
        </p:blipFill>
        <p:spPr>
          <a:xfrm>
            <a:off x="6644639" y="1422400"/>
            <a:ext cx="5322993" cy="518160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8E02A08-ACD3-8E6B-EF48-2D3E4EA5D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342" y="5435600"/>
            <a:ext cx="1300283" cy="126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7DB53-704B-1A24-6A61-FDCAE1A6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AE71F3-84DD-C090-AD26-8D70CBBB5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4A5231-2DA2-84B6-40B0-3A91C66D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Objectifs du projet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DA8EB624-736B-9685-2634-BD8C4B01F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52CD7F35-AB32-C44A-5BF1-69732011F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63FE96-7533-E604-4131-7EB3C24C9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688" y="1524000"/>
            <a:ext cx="9393591" cy="49529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</a:t>
            </a:r>
            <a:r>
              <a:rPr lang="fr-FR" sz="2800" dirty="0">
                <a:latin typeface="Arial Narrow" panose="020B0604020202020204" pitchFamily="34" charset="0"/>
                <a:cs typeface="Arial Narrow" panose="020B0604020202020204" pitchFamily="34" charset="0"/>
              </a:rPr>
              <a:t>		</a:t>
            </a:r>
            <a:r>
              <a:rPr lang="fr-FR" sz="26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Automatiser la collecte</a:t>
            </a:r>
          </a:p>
          <a:p>
            <a:pPr marL="0" indent="0">
              <a:buNone/>
            </a:pPr>
            <a:r>
              <a:rPr lang="fr-FR" sz="2200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100" dirty="0">
                <a:latin typeface="Arial Narrow" panose="020B0604020202020204" pitchFamily="34" charset="0"/>
                <a:cs typeface="Arial Narrow" panose="020B0604020202020204" pitchFamily="34" charset="0"/>
              </a:rPr>
              <a:t>Collecter automatiquement les activités sportives des 											collaborateurs via une API.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600" b="1" dirty="0">
                <a:solidFill>
                  <a:schemeClr val="accent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Garantir la qualité des données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1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Mettre en place des contrôles automatiques pour assurer des 									données fiables.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Produire des indicateurs</a:t>
            </a:r>
          </a:p>
          <a:p>
            <a:pPr marL="0" indent="0">
              <a:buNone/>
            </a:pPr>
            <a:r>
              <a:rPr lang="fr-FR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1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Calculer les primes et fournir des indicateurs pertinents pour les équipes RH.</a:t>
            </a:r>
          </a:p>
          <a:p>
            <a:pPr marL="0" indent="0">
              <a:buNone/>
            </a:pPr>
            <a:endParaRPr lang="fr-FR" sz="21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600" b="1" dirty="0">
                <a:solidFill>
                  <a:srgbClr val="7066D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Automatiser le </a:t>
            </a:r>
            <a:r>
              <a:rPr lang="fr-FR" sz="2600" b="1" dirty="0" err="1">
                <a:solidFill>
                  <a:srgbClr val="7066D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reporting</a:t>
            </a:r>
            <a:r>
              <a:rPr lang="fr-FR" sz="2600" b="1" dirty="0">
                <a:solidFill>
                  <a:srgbClr val="7066D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et les alertes</a:t>
            </a:r>
          </a:p>
          <a:p>
            <a:pPr marL="1371600" lvl="3" indent="0">
              <a:buNone/>
            </a:pPr>
            <a:r>
              <a:rPr lang="fr-FR" sz="2100" dirty="0">
                <a:latin typeface="Arial Narrow" panose="020B0604020202020204" pitchFamily="34" charset="0"/>
                <a:cs typeface="Arial Narrow" panose="020B0604020202020204" pitchFamily="34" charset="0"/>
              </a:rPr>
              <a:t>Mettre à disposition des tableaux de bord et notifier les nouvelles activités.</a:t>
            </a:r>
          </a:p>
        </p:txBody>
      </p:sp>
    </p:spTree>
    <p:extLst>
      <p:ext uri="{BB962C8B-B14F-4D97-AF65-F5344CB8AC3E}">
        <p14:creationId xmlns:p14="http://schemas.microsoft.com/office/powerpoint/2010/main" val="87167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A482B-12CB-0A4A-54AA-CF58F270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D14A61C-AEFC-DF38-1987-2293CF72A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AF364E-B32F-CDEC-C6BE-AA32CA39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517300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Orchestration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C4E5E44F-B4CE-B4CB-E461-B40F2505C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8457DF5B-4356-D386-1BE0-BAE723344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84B71C-58F4-4F0B-33E2-615646917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574" y="1655520"/>
            <a:ext cx="5162357" cy="47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Pourquoi Kestra ?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Automatisation complète du pipeline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Orchestration des différentes briques techniques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Exécution séquentielle des traitements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Suivi visuel de chaque exécution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Gestion des erreurs et historique des workflows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4C9F88-BFC6-4DB8-C39B-DC50B55C1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518" y="1512356"/>
            <a:ext cx="646611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6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07E99-7890-32C6-AE84-CD82C9E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0A8E01-2AFD-58CA-9E4C-C7748784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F5E861A-B95E-CBD9-2970-37A83AA9F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9FACFDF3-2F02-BB2D-BC18-FD199C6F3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0" name="Espace réservé du contenu 19">
            <a:extLst>
              <a:ext uri="{FF2B5EF4-FFF2-40B4-BE49-F238E27FC236}">
                <a16:creationId xmlns:a16="http://schemas.microsoft.com/office/drawing/2014/main" id="{490DAC1C-87F0-4F4E-16C7-32AB6442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598" y="439095"/>
            <a:ext cx="10018803" cy="597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38A6C2BD-A9EA-F428-7A3A-628554A8C74D}"/>
              </a:ext>
            </a:extLst>
          </p:cNvPr>
          <p:cNvSpPr txBox="1">
            <a:spLocks/>
          </p:cNvSpPr>
          <p:nvPr/>
        </p:nvSpPr>
        <p:spPr>
          <a:xfrm>
            <a:off x="431319" y="266246"/>
            <a:ext cx="7366960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Orchestration (automatisation )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DFD0D62-0494-52ED-E33B-F32ADA74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33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827C5-733C-2E9C-C311-B4F21D324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50727BC-37BF-4761-90EC-BA014946C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A115B-15FD-2380-51F2-A5E9C55D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47" y="340446"/>
            <a:ext cx="8499230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Orchestration (automatisation)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8EED3D5-3D85-4E20-55B9-8E80FC621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D23F0627-AA80-01D9-BD9F-3006F2268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1" name="Espace réservé du contenu 4">
            <a:extLst>
              <a:ext uri="{FF2B5EF4-FFF2-40B4-BE49-F238E27FC236}">
                <a16:creationId xmlns:a16="http://schemas.microsoft.com/office/drawing/2014/main" id="{A7C4014D-7093-7006-3ADC-55D80E3D5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3236" y="1439903"/>
            <a:ext cx="8185528" cy="4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157D4-FD25-D2FE-4862-71B41DAAB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509D10D-C0AF-6EEC-948E-C3EA02FAA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1C672F-EC00-C020-A1A5-F5539D53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40446"/>
            <a:ext cx="8499230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Architecture de la solution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464CC32E-F1DB-4436-11A8-74DD09EBE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CAC25AA1-C44F-3E03-75F9-1D873F389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8" name="Espace réservé du contenu 37">
            <a:extLst>
              <a:ext uri="{FF2B5EF4-FFF2-40B4-BE49-F238E27FC236}">
                <a16:creationId xmlns:a16="http://schemas.microsoft.com/office/drawing/2014/main" id="{BDE64438-1E62-3467-BB2C-236AE6202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212"/>
          <a:stretch>
            <a:fillRect/>
          </a:stretch>
        </p:blipFill>
        <p:spPr>
          <a:xfrm>
            <a:off x="1918183" y="1439903"/>
            <a:ext cx="8297901" cy="507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3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005E8-7782-6264-BC9E-4A416180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D772756-23AB-377B-2486-9C3EF155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7C7F67-08F2-9447-69EE-486C43E5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Démonstration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3D9BA99F-ACED-CECA-0C68-9FDBFB317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A0246409-8A39-72DD-46EB-3D99D8DBF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383B614-D59D-FF06-7846-A10F9DF540EF}"/>
              </a:ext>
            </a:extLst>
          </p:cNvPr>
          <p:cNvSpPr txBox="1"/>
          <p:nvPr/>
        </p:nvSpPr>
        <p:spPr>
          <a:xfrm>
            <a:off x="842597" y="2021371"/>
            <a:ext cx="426946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Objectif : </a:t>
            </a:r>
            <a:r>
              <a:rPr lang="fr-FR" i="1" dirty="0">
                <a:latin typeface="Arial Narrow" panose="020B0604020202020204" pitchFamily="34" charset="0"/>
                <a:cs typeface="Arial Narrow" panose="020B0604020202020204" pitchFamily="34" charset="0"/>
              </a:rPr>
              <a:t>démontrer le fonctionnement complet du pipeline de données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fr-FR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Étapes de la démonstration :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Modification du taux de prime dans la base de données.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Ajout d'une nouvelle activité sportive via l'API </a:t>
            </a:r>
            <a:r>
              <a:rPr lang="fr-FR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FastAPI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Publication de l'événement dans </a:t>
            </a:r>
            <a:r>
              <a:rPr lang="fr-FR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Redpanda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Consommation et chargement dans PostgreSQL.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Contrôle qualité automatique avec Soda.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Actualisation des indicateurs dans </a:t>
            </a:r>
            <a:r>
              <a:rPr lang="fr-FR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Metabase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Notification en temps réel dans Slack.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9" name="Espace réservé du contenu 28">
            <a:extLst>
              <a:ext uri="{FF2B5EF4-FFF2-40B4-BE49-F238E27FC236}">
                <a16:creationId xmlns:a16="http://schemas.microsoft.com/office/drawing/2014/main" id="{DD845571-A24B-0CF6-2CD9-91E1ABBC4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0654" y="1747211"/>
            <a:ext cx="6797966" cy="453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6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6E876-F0D5-E50A-C48B-8EFFBA68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0E5C7E7-C211-67D4-F943-DE1D0F83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FA01C6-DE2A-A9F2-28F9-BAF3316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8596668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Tableau de bord décisionnel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212F2CB-7F89-05B3-5418-1F5A0D3DF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178FAE98-9680-CD5D-D583-DDC01B0D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4CB53F2C-84FC-FACC-3249-517DA309F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6724" y="1709057"/>
            <a:ext cx="10758552" cy="472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1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7AB32-0DE9-52F9-2EB4-B9CDE5D6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5507381-BAF6-4FEC-848B-7A14079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1E4DD79A-29CB-BDF8-9D4D-55CF67A1E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D348E857-9BC8-A19D-6410-F44465D10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FC5942F9-6EA4-7E4B-AA83-BDFADE213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940" y="493842"/>
            <a:ext cx="10264119" cy="587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82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7B5A4-C198-FBC6-E24E-108CFD8A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03D1EFF-6448-662B-BA10-2971068E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3618CE-A12B-4414-6EF0-ED10206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Choix techniques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169DE7D2-A611-0130-9FD8-D6DB880AB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CC9E01CC-60F3-B31B-C665-331F6712C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3" name="Espace réservé du contenu 2">
            <a:extLst>
              <a:ext uri="{FF2B5EF4-FFF2-40B4-BE49-F238E27FC236}">
                <a16:creationId xmlns:a16="http://schemas.microsoft.com/office/drawing/2014/main" id="{3EB8F80C-67F0-C847-AC11-0E593F180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875959"/>
              </p:ext>
            </p:extLst>
          </p:nvPr>
        </p:nvGraphicFramePr>
        <p:xfrm>
          <a:off x="1794663" y="1864361"/>
          <a:ext cx="8996538" cy="4410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846">
                  <a:extLst>
                    <a:ext uri="{9D8B030D-6E8A-4147-A177-3AD203B41FA5}">
                      <a16:colId xmlns:a16="http://schemas.microsoft.com/office/drawing/2014/main" val="4222807963"/>
                    </a:ext>
                  </a:extLst>
                </a:gridCol>
                <a:gridCol w="2998846">
                  <a:extLst>
                    <a:ext uri="{9D8B030D-6E8A-4147-A177-3AD203B41FA5}">
                      <a16:colId xmlns:a16="http://schemas.microsoft.com/office/drawing/2014/main" val="10276111"/>
                    </a:ext>
                  </a:extLst>
                </a:gridCol>
                <a:gridCol w="2998846">
                  <a:extLst>
                    <a:ext uri="{9D8B030D-6E8A-4147-A177-3AD203B41FA5}">
                      <a16:colId xmlns:a16="http://schemas.microsoft.com/office/drawing/2014/main" val="4016023999"/>
                    </a:ext>
                  </a:extLst>
                </a:gridCol>
              </a:tblGrid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400" b="1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Besoin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216413"/>
                  </a:ext>
                </a:extLst>
              </a:tr>
              <a:tr h="743458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FastAPI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API légère, rapide et documentée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683402"/>
                  </a:ext>
                </a:extLst>
              </a:tr>
              <a:tr h="743458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Redpanda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Architecture évènementielle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385331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Base de données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Fiabilité et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206051"/>
                  </a:ext>
                </a:extLst>
              </a:tr>
              <a:tr h="743458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Kestra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Automatisation des traitements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525924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Qualité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Soda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Contrôles automatiques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419950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Reporting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Metabase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Visualisation simple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692726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Slack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Alertes en temps réel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460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46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B104-21B2-F77C-B458-FDEB659B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DC7A33-FBF0-D81D-1E04-C059E5E22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47E3DE-E24C-78FD-AF9D-8A5464BC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765048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Difficultés rencontrées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5549A8BB-704C-DB74-B642-EDF2FDB0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E7819456-FF90-14C5-7745-8B205F96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B6A3C6-050A-C48C-88BD-B7872519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092" y="2367627"/>
            <a:ext cx="9281816" cy="3880773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Les difficultés auxquelles j’ai été confrontées :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Communication entre conteneurs Docker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Conflit de ports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Intégration Soda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Volumes Docker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Ce que j’ai mis en place pour palier à ces difficultés :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Architecture Docker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Orchestration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Contrôle qualité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Pipeline événementiel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8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BFB87-EB08-0F3D-8F0A-B19851BF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BC0246-AA71-D10B-3503-215F1ADE8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352AF3-8382-CF43-67DA-C178918A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Conclusion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98D50022-7870-96EE-4873-636BF308A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6B35EADC-2EF5-E869-E906-0766C3442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2676575-9561-7730-3E8C-4F28AA28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96" y="4341363"/>
            <a:ext cx="6096002" cy="3061062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Aujourd'hui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Pipeline automatisé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Qualité des données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Dashboard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Notifications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Demain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Nouvelles sources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Objets connectés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Cloud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Authentification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Indicateurs avancés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6CB2D44-73C7-5D9F-2B19-3E512472B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9" y="205740"/>
            <a:ext cx="8499231" cy="566615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2D1DE96-EFE4-9813-DB44-FAA9246609C1}"/>
              </a:ext>
            </a:extLst>
          </p:cNvPr>
          <p:cNvSpPr txBox="1"/>
          <p:nvPr/>
        </p:nvSpPr>
        <p:spPr>
          <a:xfrm>
            <a:off x="4027252" y="2965941"/>
            <a:ext cx="1933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Nouvelles sources de données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API • IoT • Fichiers</a:t>
            </a:r>
          </a:p>
          <a:p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AA9A96A-3A7C-E739-6666-3A7AF3614916}"/>
              </a:ext>
            </a:extLst>
          </p:cNvPr>
          <p:cNvSpPr txBox="1"/>
          <p:nvPr/>
        </p:nvSpPr>
        <p:spPr>
          <a:xfrm>
            <a:off x="5480570" y="3067917"/>
            <a:ext cx="1671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Redpanda</a:t>
            </a:r>
            <a:endParaRPr lang="fr-FR" sz="12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Streaming temps réel</a:t>
            </a:r>
          </a:p>
          <a:p>
            <a:pPr algn="ctr">
              <a:buNone/>
            </a:pPr>
            <a:endParaRPr lang="fr-FR" sz="12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2CD1A71-9C40-ADAF-3CE9-7C5A2EDDDF68}"/>
              </a:ext>
            </a:extLst>
          </p:cNvPr>
          <p:cNvSpPr txBox="1"/>
          <p:nvPr/>
        </p:nvSpPr>
        <p:spPr>
          <a:xfrm>
            <a:off x="6975567" y="3067916"/>
            <a:ext cx="1434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PostgreSQL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Stockage centralisé</a:t>
            </a:r>
          </a:p>
          <a:p>
            <a:pPr algn="ctr">
              <a:buNone/>
            </a:pPr>
            <a:endParaRPr lang="fr-FR" sz="12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01CE4DB-61FF-008A-39E0-D12CB0D86087}"/>
              </a:ext>
            </a:extLst>
          </p:cNvPr>
          <p:cNvSpPr txBox="1"/>
          <p:nvPr/>
        </p:nvSpPr>
        <p:spPr>
          <a:xfrm>
            <a:off x="8306880" y="3067915"/>
            <a:ext cx="1472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IA / Analytics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Indicateurs prédictifs</a:t>
            </a:r>
          </a:p>
          <a:p>
            <a:pPr algn="ctr"/>
            <a:endParaRPr lang="fr-FR" sz="12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257007A-AFE8-5430-8044-4BAA21562AA8}"/>
              </a:ext>
            </a:extLst>
          </p:cNvPr>
          <p:cNvSpPr txBox="1"/>
          <p:nvPr/>
        </p:nvSpPr>
        <p:spPr>
          <a:xfrm>
            <a:off x="9638192" y="3058273"/>
            <a:ext cx="14728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Slack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Notifications temps réel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7399CB-5DCD-9C82-2DE3-97E74517C058}"/>
              </a:ext>
            </a:extLst>
          </p:cNvPr>
          <p:cNvSpPr txBox="1"/>
          <p:nvPr/>
        </p:nvSpPr>
        <p:spPr>
          <a:xfrm>
            <a:off x="6847788" y="4013200"/>
            <a:ext cx="272845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Kestra</a:t>
            </a:r>
          </a:p>
          <a:p>
            <a:pPr algn="ctr"/>
            <a:r>
              <a:rPr lang="fr-FR" sz="14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Orchestration du pipeline</a:t>
            </a:r>
          </a:p>
          <a:p>
            <a:pPr algn="ctr"/>
            <a:endParaRPr lang="fr-FR" sz="14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algn="ctr"/>
            <a:r>
              <a:rPr lang="fr-FR" sz="1400" dirty="0">
                <a:latin typeface="Arial Narrow" panose="020B0604020202020204" pitchFamily="34" charset="0"/>
                <a:cs typeface="Arial Narrow" panose="020B0604020202020204" pitchFamily="34" charset="0"/>
              </a:rPr>
              <a:t>Pipeline entièrement automatisé</a:t>
            </a:r>
          </a:p>
          <a:p>
            <a:pPr algn="ctr">
              <a:buNone/>
            </a:pPr>
            <a:endParaRPr lang="fr-FR" sz="14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6664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21747</TotalTime>
  <Words>447</Words>
  <Application>Microsoft Macintosh PowerPoint</Application>
  <PresentationFormat>Grand écran</PresentationFormat>
  <Paragraphs>122</Paragraphs>
  <Slides>14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Narrow</vt:lpstr>
      <vt:lpstr>Trebuchet MS</vt:lpstr>
      <vt:lpstr>Wingdings</vt:lpstr>
      <vt:lpstr>Wingdings 3</vt:lpstr>
      <vt:lpstr>Facette</vt:lpstr>
      <vt:lpstr>Conception d'une plateforme de traitement de données sportives</vt:lpstr>
      <vt:lpstr>Contexte</vt:lpstr>
      <vt:lpstr>Objectifs du projet</vt:lpstr>
      <vt:lpstr>Orchestration</vt:lpstr>
      <vt:lpstr>Présentation PowerPoint</vt:lpstr>
      <vt:lpstr>Présentation PowerPoint</vt:lpstr>
      <vt:lpstr>Orchestration (automatisation)</vt:lpstr>
      <vt:lpstr>Architecture de la solution</vt:lpstr>
      <vt:lpstr>Démonstration</vt:lpstr>
      <vt:lpstr>Tableau de bord décisionnel</vt:lpstr>
      <vt:lpstr>Présentation PowerPoint</vt:lpstr>
      <vt:lpstr>Choix techniques</vt:lpstr>
      <vt:lpstr>Difficultés rencontrées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Sokhna Signara Gueye</dc:creator>
  <cp:lastModifiedBy>Sokhna Signara Gueye</cp:lastModifiedBy>
  <cp:revision>2</cp:revision>
  <dcterms:created xsi:type="dcterms:W3CDTF">2026-07-15T21:10:57Z</dcterms:created>
  <dcterms:modified xsi:type="dcterms:W3CDTF">2026-07-30T23:38:22Z</dcterms:modified>
</cp:coreProperties>
</file>