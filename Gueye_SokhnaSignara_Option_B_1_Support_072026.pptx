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3" r:id="rId1"/>
  </p:sldMasterIdLst>
  <p:notesMasterIdLst>
    <p:notesMasterId r:id="rId16"/>
  </p:notesMasterIdLst>
  <p:sldIdLst>
    <p:sldId id="256" r:id="rId2"/>
    <p:sldId id="257" r:id="rId3"/>
    <p:sldId id="258" r:id="rId4"/>
    <p:sldId id="267" r:id="rId5"/>
    <p:sldId id="268" r:id="rId6"/>
    <p:sldId id="269" r:id="rId7"/>
    <p:sldId id="259" r:id="rId8"/>
    <p:sldId id="270" r:id="rId9"/>
    <p:sldId id="260" r:id="rId10"/>
    <p:sldId id="265" r:id="rId11"/>
    <p:sldId id="266" r:id="rId12"/>
    <p:sldId id="264" r:id="rId13"/>
    <p:sldId id="263" r:id="rId14"/>
    <p:sldId id="26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6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93"/>
    <p:restoredTop sz="94623"/>
  </p:normalViewPr>
  <p:slideViewPr>
    <p:cSldViewPr snapToGrid="0">
      <p:cViewPr varScale="1">
        <p:scale>
          <a:sx n="74" d="100"/>
          <a:sy n="74" d="100"/>
        </p:scale>
        <p:origin x="176" y="1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5F1980-BB89-6547-8F87-EAB70BA18356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D663DE-87BE-2D4D-B38C-A39C3643DF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0265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663DE-87BE-2D4D-B38C-A39C3643DF77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53164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663DE-87BE-2D4D-B38C-A39C3643DF77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76096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5B8B9-E9C7-5FB4-2CC8-25A4F1CA7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9DFE331-579F-D0B7-E6F3-C4312C54B6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F2CFA58-8738-9E71-5897-00840C8BD2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D8BAB4D-289D-E136-6703-725005F0DE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D663DE-87BE-2D4D-B38C-A39C3643DF77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6734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ACFB8-FECA-D44F-BE0A-421F6A47C77D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36DB-8AF3-0B44-8FE6-35E214922A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1943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ACFB8-FECA-D44F-BE0A-421F6A47C77D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36DB-8AF3-0B44-8FE6-35E214922A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5036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ACFB8-FECA-D44F-BE0A-421F6A47C77D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36DB-8AF3-0B44-8FE6-35E214922A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0679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ACFB8-FECA-D44F-BE0A-421F6A47C77D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36DB-8AF3-0B44-8FE6-35E214922A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4565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ACFB8-FECA-D44F-BE0A-421F6A47C77D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36DB-8AF3-0B44-8FE6-35E214922A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6061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ACFB8-FECA-D44F-BE0A-421F6A47C77D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36DB-8AF3-0B44-8FE6-35E214922A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7659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ACFB8-FECA-D44F-BE0A-421F6A47C77D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36DB-8AF3-0B44-8FE6-35E214922A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3433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ACFB8-FECA-D44F-BE0A-421F6A47C77D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36DB-8AF3-0B44-8FE6-35E214922A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2699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ACFB8-FECA-D44F-BE0A-421F6A47C77D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36DB-8AF3-0B44-8FE6-35E214922A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0946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ACFB8-FECA-D44F-BE0A-421F6A47C77D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36DB-8AF3-0B44-8FE6-35E214922A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3076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ACFB8-FECA-D44F-BE0A-421F6A47C77D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36DB-8AF3-0B44-8FE6-35E214922ADA}" type="slidenum">
              <a:rPr lang="fr-FR" smtClean="0"/>
              <a:t>‹N°›</a:t>
            </a:fld>
            <a:endParaRPr lang="fr-F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844048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ACFB8-FECA-D44F-BE0A-421F6A47C77D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36DB-8AF3-0B44-8FE6-35E214922A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70514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ACFB8-FECA-D44F-BE0A-421F6A47C77D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36DB-8AF3-0B44-8FE6-35E214922ADA}" type="slidenum">
              <a:rPr lang="fr-FR" smtClean="0"/>
              <a:t>‹N°›</a:t>
            </a:fld>
            <a:endParaRPr lang="fr-F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741086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ACFB8-FECA-D44F-BE0A-421F6A47C77D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36DB-8AF3-0B44-8FE6-35E214922A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81546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ACFB8-FECA-D44F-BE0A-421F6A47C77D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36DB-8AF3-0B44-8FE6-35E214922A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63104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ACFB8-FECA-D44F-BE0A-421F6A47C77D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36DB-8AF3-0B44-8FE6-35E214922A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4707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AACFB8-FECA-D44F-BE0A-421F6A47C77D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90C36DB-8AF3-0B44-8FE6-35E214922A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44856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9C8022-9027-73C9-CE9F-99E9F3CA50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2238452"/>
          </a:xfrm>
        </p:spPr>
        <p:txBody>
          <a:bodyPr/>
          <a:lstStyle/>
          <a:p>
            <a:r>
              <a:rPr lang="fr-FR" sz="6600" b="1" dirty="0">
                <a:solidFill>
                  <a:srgbClr val="00B0F0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Conception d'une plateforme de traitement de données sportives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BD53E07-FBB3-92B4-B3DD-641150E4B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817326"/>
            <a:ext cx="7766936" cy="1471961"/>
          </a:xfrm>
        </p:spPr>
        <p:txBody>
          <a:bodyPr>
            <a:normAutofit/>
          </a:bodyPr>
          <a:lstStyle/>
          <a:p>
            <a:r>
              <a:rPr lang="fr-FR" sz="2000" i="1" dirty="0">
                <a:latin typeface="Arial Narrow" panose="020B0604020202020204" pitchFamily="34" charset="0"/>
                <a:cs typeface="Arial Narrow" panose="020B0604020202020204" pitchFamily="34" charset="0"/>
              </a:rPr>
              <a:t>Projet 12 – Parcours Data Engineer – </a:t>
            </a:r>
            <a:r>
              <a:rPr lang="fr-FR" sz="2000" i="1" dirty="0" err="1">
                <a:latin typeface="Arial Narrow" panose="020B0604020202020204" pitchFamily="34" charset="0"/>
                <a:cs typeface="Arial Narrow" panose="020B0604020202020204" pitchFamily="34" charset="0"/>
              </a:rPr>
              <a:t>OpenClassrooms</a:t>
            </a:r>
            <a:br>
              <a:rPr lang="fr-FR" sz="2000" i="1" dirty="0">
                <a:latin typeface="Arial Narrow" panose="020B0604020202020204" pitchFamily="34" charset="0"/>
                <a:cs typeface="Arial Narrow" panose="020B0604020202020204" pitchFamily="34" charset="0"/>
              </a:rPr>
            </a:br>
            <a:r>
              <a:rPr lang="fr-FR" sz="2000" i="1" dirty="0">
                <a:latin typeface="Arial Narrow" panose="020B0604020202020204" pitchFamily="34" charset="0"/>
                <a:cs typeface="Arial Narrow" panose="020B0604020202020204" pitchFamily="34" charset="0"/>
              </a:rPr>
              <a:t>Sokhna Signara Gueye</a:t>
            </a:r>
            <a:br>
              <a:rPr lang="fr-FR" sz="2000" i="1" dirty="0">
                <a:latin typeface="Arial Narrow" panose="020B0604020202020204" pitchFamily="34" charset="0"/>
                <a:cs typeface="Arial Narrow" panose="020B0604020202020204" pitchFamily="34" charset="0"/>
              </a:rPr>
            </a:br>
            <a:r>
              <a:rPr lang="fr-FR" sz="2000" i="1" dirty="0">
                <a:latin typeface="Arial Narrow" panose="020B0604020202020204" pitchFamily="34" charset="0"/>
                <a:cs typeface="Arial Narrow" panose="020B0604020202020204" pitchFamily="34" charset="0"/>
              </a:rPr>
              <a:t>Juillet 2026</a:t>
            </a:r>
          </a:p>
        </p:txBody>
      </p:sp>
    </p:spTree>
    <p:extLst>
      <p:ext uri="{BB962C8B-B14F-4D97-AF65-F5344CB8AC3E}">
        <p14:creationId xmlns:p14="http://schemas.microsoft.com/office/powerpoint/2010/main" val="356882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4D16F1A-5D78-4402-81FF-31A98AFD6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F2F075F-0F55-E589-86CC-209ECCAC1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609600"/>
            <a:ext cx="6510972" cy="1099457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>
                <a:solidFill>
                  <a:srgbClr val="00B0F0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Contexte</a:t>
            </a:r>
          </a:p>
        </p:txBody>
      </p:sp>
      <p:sp>
        <p:nvSpPr>
          <p:cNvPr id="18" name="Isosceles Triangle 11">
            <a:extLst>
              <a:ext uri="{FF2B5EF4-FFF2-40B4-BE49-F238E27FC236}">
                <a16:creationId xmlns:a16="http://schemas.microsoft.com/office/drawing/2014/main" id="{1B2FB7F0-6A45-43E8-88A7-48E46E6D48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9" name="Isosceles Triangle 13">
            <a:extLst>
              <a:ext uri="{FF2B5EF4-FFF2-40B4-BE49-F238E27FC236}">
                <a16:creationId xmlns:a16="http://schemas.microsoft.com/office/drawing/2014/main" id="{6BA9C607-662B-4FBB-A3F3-CF593AD736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DBEF1B2-BB60-4E14-4D1F-3E97B45E7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2597" y="1925406"/>
            <a:ext cx="5668373" cy="41755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Juliette, responsable RH, souhaite mettre en place un programme de bien-être afin d'encourager l’activité physique des collaborateurs.</a:t>
            </a:r>
          </a:p>
          <a:p>
            <a:pPr marL="0" indent="0">
              <a:buNone/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Pour accompagner cette initiative, elle souhaite disposer d'une plateforme capable de centraliser ces activités afin de :</a:t>
            </a:r>
          </a:p>
          <a:p>
            <a:pPr>
              <a:buClr>
                <a:srgbClr val="00B0F0"/>
              </a:buClr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Suivre la participation des salariés</a:t>
            </a:r>
          </a:p>
          <a:p>
            <a:pPr>
              <a:buClr>
                <a:srgbClr val="00B0F0"/>
              </a:buClr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Calculer automatiquement les primes associées</a:t>
            </a:r>
          </a:p>
          <a:p>
            <a:pPr>
              <a:buClr>
                <a:srgbClr val="00B0F0"/>
              </a:buClr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Produire des indicateurs RH fiables</a:t>
            </a:r>
          </a:p>
          <a:p>
            <a:pPr>
              <a:buClr>
                <a:srgbClr val="00B0F0"/>
              </a:buClr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Notifier les nouvelles activités en temps réel</a:t>
            </a:r>
          </a:p>
          <a:p>
            <a:endParaRPr lang="fr-FR" dirty="0"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175C0461-1198-C41B-452B-F2A25547CE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514"/>
          <a:stretch>
            <a:fillRect/>
          </a:stretch>
        </p:blipFill>
        <p:spPr>
          <a:xfrm>
            <a:off x="6644639" y="1422400"/>
            <a:ext cx="5322993" cy="5181600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D8E02A08-ACD3-8E6B-EF48-2D3E4EA5DB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5342" y="5435600"/>
            <a:ext cx="1300283" cy="1264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077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B7DB53-704B-1A24-6A61-FDCAE1A65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2AE71F3-84DD-C090-AD26-8D70CBBB57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D4A5231-2DA2-84B6-40B0-3A91C66D0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609600"/>
            <a:ext cx="6096002" cy="1099457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>
                <a:solidFill>
                  <a:srgbClr val="00B0F0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Objectifs du projet</a:t>
            </a:r>
          </a:p>
        </p:txBody>
      </p:sp>
      <p:sp>
        <p:nvSpPr>
          <p:cNvPr id="18" name="Isosceles Triangle 11">
            <a:extLst>
              <a:ext uri="{FF2B5EF4-FFF2-40B4-BE49-F238E27FC236}">
                <a16:creationId xmlns:a16="http://schemas.microsoft.com/office/drawing/2014/main" id="{DA8EB624-736B-9685-2634-BD8C4B01F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9" name="Isosceles Triangle 13">
            <a:extLst>
              <a:ext uri="{FF2B5EF4-FFF2-40B4-BE49-F238E27FC236}">
                <a16:creationId xmlns:a16="http://schemas.microsoft.com/office/drawing/2014/main" id="{52CD7F35-AB32-C44A-5BF1-69732011FB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663FE96-7533-E604-4131-7EB3C24C9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0688" y="1524000"/>
            <a:ext cx="9393591" cy="495299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fr-FR" dirty="0"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pPr marL="0" indent="0">
              <a:buNone/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	</a:t>
            </a:r>
            <a:r>
              <a:rPr lang="fr-FR" sz="2800" dirty="0">
                <a:latin typeface="Arial Narrow" panose="020B0604020202020204" pitchFamily="34" charset="0"/>
                <a:cs typeface="Arial Narrow" panose="020B0604020202020204" pitchFamily="34" charset="0"/>
              </a:rPr>
              <a:t>		</a:t>
            </a:r>
            <a:r>
              <a:rPr lang="fr-FR" sz="2600" b="1" dirty="0">
                <a:solidFill>
                  <a:srgbClr val="00B0F0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Automatiser la collecte</a:t>
            </a:r>
          </a:p>
          <a:p>
            <a:pPr marL="0" indent="0">
              <a:buNone/>
            </a:pPr>
            <a:r>
              <a:rPr lang="fr-FR" sz="2200" dirty="0">
                <a:latin typeface="Arial Narrow" panose="020B0604020202020204" pitchFamily="34" charset="0"/>
                <a:cs typeface="Arial Narrow" panose="020B0604020202020204" pitchFamily="34" charset="0"/>
              </a:rPr>
              <a:t>			</a:t>
            </a:r>
            <a:r>
              <a:rPr lang="fr-FR" sz="2100" dirty="0">
                <a:latin typeface="Arial Narrow" panose="020B0604020202020204" pitchFamily="34" charset="0"/>
                <a:cs typeface="Arial Narrow" panose="020B0604020202020204" pitchFamily="34" charset="0"/>
              </a:rPr>
              <a:t>Collecter automatiquement les activités sportives des 											collaborateurs via une API.</a:t>
            </a:r>
          </a:p>
          <a:p>
            <a:pPr marL="0" indent="0">
              <a:buNone/>
            </a:pPr>
            <a:endParaRPr lang="fr-FR" dirty="0"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pPr marL="0" indent="0">
              <a:buNone/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			</a:t>
            </a:r>
            <a:r>
              <a:rPr lang="fr-FR" sz="2600" b="1" dirty="0">
                <a:solidFill>
                  <a:schemeClr val="accent1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Garantir la qualité des données</a:t>
            </a:r>
          </a:p>
          <a:p>
            <a:pPr marL="0" indent="0">
              <a:buNone/>
            </a:pPr>
            <a:r>
              <a:rPr lang="fr-FR" sz="2600" dirty="0">
                <a:solidFill>
                  <a:schemeClr val="tx1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			</a:t>
            </a:r>
            <a:r>
              <a:rPr lang="fr-FR" sz="2100" dirty="0">
                <a:solidFill>
                  <a:schemeClr val="tx1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Mettre en place des contrôles automatiques pour assurer des 									données fiables.</a:t>
            </a:r>
          </a:p>
          <a:p>
            <a:pPr marL="0" indent="0">
              <a:buNone/>
            </a:pPr>
            <a:endParaRPr lang="fr-FR" dirty="0"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pPr marL="0" indent="0">
              <a:buNone/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			</a:t>
            </a:r>
            <a:r>
              <a:rPr lang="fr-FR" sz="26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Produire des indicateurs</a:t>
            </a:r>
          </a:p>
          <a:p>
            <a:pPr marL="0" indent="0">
              <a:buNone/>
            </a:pPr>
            <a:r>
              <a:rPr lang="fr-FR" sz="26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			</a:t>
            </a:r>
            <a:r>
              <a:rPr lang="fr-FR" sz="2100" dirty="0">
                <a:solidFill>
                  <a:schemeClr val="tx1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Calculer les primes et fournir des indicateurs pertinents pour les équipes RH.</a:t>
            </a:r>
          </a:p>
          <a:p>
            <a:pPr marL="0" indent="0">
              <a:buNone/>
            </a:pPr>
            <a:endParaRPr lang="fr-FR" sz="2100" dirty="0">
              <a:solidFill>
                <a:schemeClr val="tx1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pPr marL="0" indent="0">
              <a:buNone/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			</a:t>
            </a:r>
            <a:r>
              <a:rPr lang="fr-FR" sz="2600" b="1" dirty="0">
                <a:solidFill>
                  <a:srgbClr val="7066D1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Automatiser le </a:t>
            </a:r>
            <a:r>
              <a:rPr lang="fr-FR" sz="2600" b="1" dirty="0" err="1">
                <a:solidFill>
                  <a:srgbClr val="7066D1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reporting</a:t>
            </a:r>
            <a:r>
              <a:rPr lang="fr-FR" sz="2600" b="1" dirty="0">
                <a:solidFill>
                  <a:srgbClr val="7066D1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 et les alertes</a:t>
            </a:r>
          </a:p>
          <a:p>
            <a:pPr marL="1371600" lvl="3" indent="0">
              <a:buNone/>
            </a:pPr>
            <a:r>
              <a:rPr lang="fr-FR" sz="2100" dirty="0">
                <a:latin typeface="Arial Narrow" panose="020B0604020202020204" pitchFamily="34" charset="0"/>
                <a:cs typeface="Arial Narrow" panose="020B0604020202020204" pitchFamily="34" charset="0"/>
              </a:rPr>
              <a:t>Mettre à disposition des tableaux de bord et notifier les nouvelles activités.</a:t>
            </a:r>
          </a:p>
        </p:txBody>
      </p:sp>
    </p:spTree>
    <p:extLst>
      <p:ext uri="{BB962C8B-B14F-4D97-AF65-F5344CB8AC3E}">
        <p14:creationId xmlns:p14="http://schemas.microsoft.com/office/powerpoint/2010/main" val="871676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8A482B-12CB-0A4A-54AA-CF58F270E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D14A61C-AEFC-DF38-1987-2293CF72A0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CAF364E-B32F-CDEC-C6BE-AA32CA39D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609600"/>
            <a:ext cx="6517300" cy="1099457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>
                <a:solidFill>
                  <a:srgbClr val="00B0F0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Orchestration</a:t>
            </a:r>
          </a:p>
        </p:txBody>
      </p:sp>
      <p:sp>
        <p:nvSpPr>
          <p:cNvPr id="18" name="Isosceles Triangle 11">
            <a:extLst>
              <a:ext uri="{FF2B5EF4-FFF2-40B4-BE49-F238E27FC236}">
                <a16:creationId xmlns:a16="http://schemas.microsoft.com/office/drawing/2014/main" id="{C4E5E44F-B4CE-B4CB-E461-B40F2505C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9" name="Isosceles Triangle 13">
            <a:extLst>
              <a:ext uri="{FF2B5EF4-FFF2-40B4-BE49-F238E27FC236}">
                <a16:creationId xmlns:a16="http://schemas.microsoft.com/office/drawing/2014/main" id="{8457DF5B-4356-D386-1BE0-BAE723344E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C84B71C-58F4-4F0B-33E2-6156469177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0574" y="1655520"/>
            <a:ext cx="5162357" cy="4715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2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Pourquoi Kestra ?</a:t>
            </a:r>
          </a:p>
          <a:p>
            <a:pPr marL="0" indent="0">
              <a:buNone/>
            </a:pPr>
            <a:endParaRPr lang="fr-FR" dirty="0"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pPr marL="0" indent="0">
              <a:buNone/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✅ Automatisation complète du pipeline</a:t>
            </a:r>
          </a:p>
          <a:p>
            <a:pPr marL="0" indent="0">
              <a:buNone/>
            </a:pPr>
            <a:endParaRPr lang="fr-FR" dirty="0"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pPr marL="0" indent="0">
              <a:buNone/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✅ Orchestration des différentes briques techniques</a:t>
            </a:r>
          </a:p>
          <a:p>
            <a:pPr marL="0" indent="0">
              <a:buNone/>
            </a:pPr>
            <a:endParaRPr lang="fr-FR" dirty="0"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pPr marL="0" indent="0">
              <a:buNone/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✅ Exécution séquentielle des traitements</a:t>
            </a:r>
          </a:p>
          <a:p>
            <a:pPr marL="0" indent="0">
              <a:buNone/>
            </a:pPr>
            <a:endParaRPr lang="fr-FR" dirty="0"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pPr marL="0" indent="0">
              <a:buNone/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✅ Suivi visuel de chaque exécution</a:t>
            </a:r>
          </a:p>
          <a:p>
            <a:pPr marL="0" indent="0">
              <a:buNone/>
            </a:pPr>
            <a:endParaRPr lang="fr-FR" dirty="0"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pPr marL="0" indent="0">
              <a:buNone/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✅ Gestion des erreurs et historique des workflows</a:t>
            </a:r>
          </a:p>
          <a:p>
            <a:endParaRPr lang="fr-FR" dirty="0"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84C9F88-BFC6-4DB8-C39B-DC50B55C1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518" y="1512356"/>
            <a:ext cx="6466115" cy="431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863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707E99-7890-32C6-AE84-CD82C9E8B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60A8E01-2AFD-58CA-9E4C-C77487843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1">
            <a:extLst>
              <a:ext uri="{FF2B5EF4-FFF2-40B4-BE49-F238E27FC236}">
                <a16:creationId xmlns:a16="http://schemas.microsoft.com/office/drawing/2014/main" id="{7F5E861A-B95E-CBD9-2970-37A83AA9FF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9" name="Isosceles Triangle 13">
            <a:extLst>
              <a:ext uri="{FF2B5EF4-FFF2-40B4-BE49-F238E27FC236}">
                <a16:creationId xmlns:a16="http://schemas.microsoft.com/office/drawing/2014/main" id="{9FACFDF3-2F02-BB2D-BC18-FD199C6F36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20" name="Espace réservé du contenu 19">
            <a:extLst>
              <a:ext uri="{FF2B5EF4-FFF2-40B4-BE49-F238E27FC236}">
                <a16:creationId xmlns:a16="http://schemas.microsoft.com/office/drawing/2014/main" id="{490DAC1C-87F0-4F4E-16C7-32AB64424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6598" y="439095"/>
            <a:ext cx="10018803" cy="5979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48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1">
            <a:extLst>
              <a:ext uri="{FF2B5EF4-FFF2-40B4-BE49-F238E27FC236}">
                <a16:creationId xmlns:a16="http://schemas.microsoft.com/office/drawing/2014/main" id="{38A6C2BD-A9EA-F428-7A3A-628554A8C74D}"/>
              </a:ext>
            </a:extLst>
          </p:cNvPr>
          <p:cNvSpPr txBox="1">
            <a:spLocks/>
          </p:cNvSpPr>
          <p:nvPr/>
        </p:nvSpPr>
        <p:spPr>
          <a:xfrm>
            <a:off x="431319" y="266246"/>
            <a:ext cx="7366960" cy="10994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fr-FR" sz="4400" b="1" dirty="0">
                <a:solidFill>
                  <a:srgbClr val="00B0F0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Orchestration (automatisation )</a:t>
            </a:r>
          </a:p>
        </p:txBody>
      </p:sp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2DFD0D62-0494-52ED-E33B-F32ADA74F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7339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4827C5-733C-2E9C-C311-B4F21D324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50727BC-37BF-4761-90EC-BA014946C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1FA115B-15FD-2380-51F2-A5E9C55D5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747" y="340446"/>
            <a:ext cx="8499230" cy="1099457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>
                <a:solidFill>
                  <a:srgbClr val="00B0F0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Orchestration (automatisation)</a:t>
            </a:r>
          </a:p>
        </p:txBody>
      </p:sp>
      <p:sp>
        <p:nvSpPr>
          <p:cNvPr id="18" name="Isosceles Triangle 11">
            <a:extLst>
              <a:ext uri="{FF2B5EF4-FFF2-40B4-BE49-F238E27FC236}">
                <a16:creationId xmlns:a16="http://schemas.microsoft.com/office/drawing/2014/main" id="{78EED3D5-3D85-4E20-55B9-8E80FC621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9" name="Isosceles Triangle 13">
            <a:extLst>
              <a:ext uri="{FF2B5EF4-FFF2-40B4-BE49-F238E27FC236}">
                <a16:creationId xmlns:a16="http://schemas.microsoft.com/office/drawing/2014/main" id="{D23F0627-AA80-01D9-BD9F-3006F2268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41" name="Espace réservé du contenu 4">
            <a:extLst>
              <a:ext uri="{FF2B5EF4-FFF2-40B4-BE49-F238E27FC236}">
                <a16:creationId xmlns:a16="http://schemas.microsoft.com/office/drawing/2014/main" id="{A7C4014D-7093-7006-3ADC-55D80E3D5C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3236" y="1439903"/>
            <a:ext cx="8185528" cy="4849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500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8157D4-FD25-D2FE-4862-71B41DAAB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509D10D-C0AF-6EEC-948E-C3EA02FAA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11C672F-EC00-C020-A1A5-F5539D538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340446"/>
            <a:ext cx="8499230" cy="1099457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>
                <a:solidFill>
                  <a:srgbClr val="00B0F0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Architecture de la solution</a:t>
            </a:r>
          </a:p>
        </p:txBody>
      </p:sp>
      <p:sp>
        <p:nvSpPr>
          <p:cNvPr id="18" name="Isosceles Triangle 11">
            <a:extLst>
              <a:ext uri="{FF2B5EF4-FFF2-40B4-BE49-F238E27FC236}">
                <a16:creationId xmlns:a16="http://schemas.microsoft.com/office/drawing/2014/main" id="{464CC32E-F1DB-4436-11A8-74DD09EBE4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9" name="Isosceles Triangle 13">
            <a:extLst>
              <a:ext uri="{FF2B5EF4-FFF2-40B4-BE49-F238E27FC236}">
                <a16:creationId xmlns:a16="http://schemas.microsoft.com/office/drawing/2014/main" id="{CAC25AA1-C44F-3E03-75F9-1D873F389C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38" name="Espace réservé du contenu 37">
            <a:extLst>
              <a:ext uri="{FF2B5EF4-FFF2-40B4-BE49-F238E27FC236}">
                <a16:creationId xmlns:a16="http://schemas.microsoft.com/office/drawing/2014/main" id="{BDE64438-1E62-3467-BB2C-236AE62022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8212"/>
          <a:stretch>
            <a:fillRect/>
          </a:stretch>
        </p:blipFill>
        <p:spPr>
          <a:xfrm>
            <a:off x="1918183" y="1439903"/>
            <a:ext cx="8297901" cy="507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431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5005E8-7782-6264-BC9E-4A4161801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D772756-23AB-377B-2486-9C3EF1552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C7C7F67-08F2-9447-69EE-486C43E59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609600"/>
            <a:ext cx="6096002" cy="1099457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>
                <a:solidFill>
                  <a:srgbClr val="00B0F0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Démonstration</a:t>
            </a:r>
          </a:p>
        </p:txBody>
      </p:sp>
      <p:sp>
        <p:nvSpPr>
          <p:cNvPr id="18" name="Isosceles Triangle 11">
            <a:extLst>
              <a:ext uri="{FF2B5EF4-FFF2-40B4-BE49-F238E27FC236}">
                <a16:creationId xmlns:a16="http://schemas.microsoft.com/office/drawing/2014/main" id="{3D9BA99F-ACED-CECA-0C68-9FDBFB317E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9" name="Isosceles Triangle 13">
            <a:extLst>
              <a:ext uri="{FF2B5EF4-FFF2-40B4-BE49-F238E27FC236}">
                <a16:creationId xmlns:a16="http://schemas.microsoft.com/office/drawing/2014/main" id="{A0246409-8A39-72DD-46EB-3D99D8DBF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8383B614-D59D-FF06-7846-A10F9DF540EF}"/>
              </a:ext>
            </a:extLst>
          </p:cNvPr>
          <p:cNvSpPr txBox="1"/>
          <p:nvPr/>
        </p:nvSpPr>
        <p:spPr>
          <a:xfrm>
            <a:off x="842597" y="2021371"/>
            <a:ext cx="4269465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i="1" dirty="0">
                <a:latin typeface="Arial Narrow" panose="020B0604020202020204" pitchFamily="34" charset="0"/>
                <a:cs typeface="Arial Narrow" panose="020B0604020202020204" pitchFamily="34" charset="0"/>
              </a:rPr>
              <a:t>Objectif : </a:t>
            </a:r>
            <a:r>
              <a:rPr lang="fr-FR" i="1" dirty="0">
                <a:latin typeface="Arial Narrow" panose="020B0604020202020204" pitchFamily="34" charset="0"/>
                <a:cs typeface="Arial Narrow" panose="020B0604020202020204" pitchFamily="34" charset="0"/>
              </a:rPr>
              <a:t>démontrer le fonctionnement complet du pipeline de données</a:t>
            </a: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.</a:t>
            </a:r>
          </a:p>
          <a:p>
            <a:endParaRPr lang="fr-FR" dirty="0"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r>
              <a:rPr lang="fr-FR" sz="20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Étapes de la démonstration :</a:t>
            </a:r>
          </a:p>
          <a:p>
            <a:endParaRPr lang="fr-FR" dirty="0"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Modification du taux de prime dans la base de données. </a:t>
            </a:r>
          </a:p>
          <a:p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Ajout d'une nouvelle activité sportive via l'API </a:t>
            </a:r>
            <a:r>
              <a:rPr lang="fr-FR" dirty="0" err="1">
                <a:latin typeface="Arial Narrow" panose="020B0604020202020204" pitchFamily="34" charset="0"/>
                <a:cs typeface="Arial Narrow" panose="020B0604020202020204" pitchFamily="34" charset="0"/>
              </a:rPr>
              <a:t>FastAPI</a:t>
            </a: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. </a:t>
            </a:r>
          </a:p>
          <a:p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Publication de l'événement dans </a:t>
            </a:r>
            <a:r>
              <a:rPr lang="fr-FR" dirty="0" err="1">
                <a:latin typeface="Arial Narrow" panose="020B0604020202020204" pitchFamily="34" charset="0"/>
                <a:cs typeface="Arial Narrow" panose="020B0604020202020204" pitchFamily="34" charset="0"/>
              </a:rPr>
              <a:t>Redpanda</a:t>
            </a: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. </a:t>
            </a:r>
          </a:p>
          <a:p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Consommation et chargement dans PostgreSQL. </a:t>
            </a:r>
          </a:p>
          <a:p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Contrôle qualité automatique avec Soda. </a:t>
            </a:r>
          </a:p>
          <a:p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Actualisation des indicateurs dans </a:t>
            </a:r>
            <a:r>
              <a:rPr lang="fr-FR" dirty="0" err="1">
                <a:latin typeface="Arial Narrow" panose="020B0604020202020204" pitchFamily="34" charset="0"/>
                <a:cs typeface="Arial Narrow" panose="020B0604020202020204" pitchFamily="34" charset="0"/>
              </a:rPr>
              <a:t>Metabase</a:t>
            </a: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. </a:t>
            </a:r>
          </a:p>
          <a:p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Notification en temps réel dans Slack.</a:t>
            </a:r>
          </a:p>
          <a:p>
            <a:endParaRPr lang="fr-FR" dirty="0"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29" name="Espace réservé du contenu 28">
            <a:extLst>
              <a:ext uri="{FF2B5EF4-FFF2-40B4-BE49-F238E27FC236}">
                <a16:creationId xmlns:a16="http://schemas.microsoft.com/office/drawing/2014/main" id="{DD845571-A24B-0CF6-2CD9-91E1ABBC49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10654" y="1747211"/>
            <a:ext cx="6797966" cy="4531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560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66E876-F0D5-E50A-C48B-8EFFBA68B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0E5C7E7-C211-67D4-F943-DE1D0F830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9FA01C6-DE2A-A9F2-28F9-BAF3316B8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609600"/>
            <a:ext cx="8596668" cy="1099457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>
                <a:solidFill>
                  <a:srgbClr val="00B0F0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Tableau de bord décisionnel</a:t>
            </a:r>
          </a:p>
        </p:txBody>
      </p:sp>
      <p:sp>
        <p:nvSpPr>
          <p:cNvPr id="18" name="Isosceles Triangle 11">
            <a:extLst>
              <a:ext uri="{FF2B5EF4-FFF2-40B4-BE49-F238E27FC236}">
                <a16:creationId xmlns:a16="http://schemas.microsoft.com/office/drawing/2014/main" id="{7212F2CB-7F89-05B3-5418-1F5A0D3DF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9" name="Isosceles Triangle 13">
            <a:extLst>
              <a:ext uri="{FF2B5EF4-FFF2-40B4-BE49-F238E27FC236}">
                <a16:creationId xmlns:a16="http://schemas.microsoft.com/office/drawing/2014/main" id="{178FAE98-9680-CD5D-D583-DDC01B0D07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9" name="Espace réservé du contenu 8">
            <a:extLst>
              <a:ext uri="{FF2B5EF4-FFF2-40B4-BE49-F238E27FC236}">
                <a16:creationId xmlns:a16="http://schemas.microsoft.com/office/drawing/2014/main" id="{4CB53F2C-84FC-FACC-3249-517DA309F0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16724" y="1709057"/>
            <a:ext cx="10758552" cy="472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618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F7AB32-0DE9-52F9-2EB4-B9CDE5D67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5507381-BAF6-4FEC-848B-7A14079839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1">
            <a:extLst>
              <a:ext uri="{FF2B5EF4-FFF2-40B4-BE49-F238E27FC236}">
                <a16:creationId xmlns:a16="http://schemas.microsoft.com/office/drawing/2014/main" id="{1E4DD79A-29CB-BDF8-9D4D-55CF67A1E5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9" name="Isosceles Triangle 13">
            <a:extLst>
              <a:ext uri="{FF2B5EF4-FFF2-40B4-BE49-F238E27FC236}">
                <a16:creationId xmlns:a16="http://schemas.microsoft.com/office/drawing/2014/main" id="{D348E857-9BC8-A19D-6410-F44465D10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13" name="Espace réservé du contenu 12">
            <a:extLst>
              <a:ext uri="{FF2B5EF4-FFF2-40B4-BE49-F238E27FC236}">
                <a16:creationId xmlns:a16="http://schemas.microsoft.com/office/drawing/2014/main" id="{FC5942F9-6EA4-7E4B-AA83-BDFADE213C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63940" y="493842"/>
            <a:ext cx="10264119" cy="5870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7823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07B5A4-C198-FBC6-E24E-108CFD8AE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03D1EFF-6448-662B-BA10-2971068EC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C3618CE-A12B-4414-6EF0-ED102068C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609600"/>
            <a:ext cx="6096002" cy="1099457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>
                <a:solidFill>
                  <a:srgbClr val="00B0F0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Choix techniques</a:t>
            </a:r>
          </a:p>
        </p:txBody>
      </p:sp>
      <p:sp>
        <p:nvSpPr>
          <p:cNvPr id="18" name="Isosceles Triangle 11">
            <a:extLst>
              <a:ext uri="{FF2B5EF4-FFF2-40B4-BE49-F238E27FC236}">
                <a16:creationId xmlns:a16="http://schemas.microsoft.com/office/drawing/2014/main" id="{169DE7D2-A611-0130-9FD8-D6DB880AB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9" name="Isosceles Triangle 13">
            <a:extLst>
              <a:ext uri="{FF2B5EF4-FFF2-40B4-BE49-F238E27FC236}">
                <a16:creationId xmlns:a16="http://schemas.microsoft.com/office/drawing/2014/main" id="{CC9E01CC-60F3-B31B-C665-331F6712C4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graphicFrame>
        <p:nvGraphicFramePr>
          <p:cNvPr id="3" name="Espace réservé du contenu 2">
            <a:extLst>
              <a:ext uri="{FF2B5EF4-FFF2-40B4-BE49-F238E27FC236}">
                <a16:creationId xmlns:a16="http://schemas.microsoft.com/office/drawing/2014/main" id="{3EB8F80C-67F0-C847-AC11-0E593F180E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3875959"/>
              </p:ext>
            </p:extLst>
          </p:nvPr>
        </p:nvGraphicFramePr>
        <p:xfrm>
          <a:off x="1794663" y="1864361"/>
          <a:ext cx="8996538" cy="44105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8846">
                  <a:extLst>
                    <a:ext uri="{9D8B030D-6E8A-4147-A177-3AD203B41FA5}">
                      <a16:colId xmlns:a16="http://schemas.microsoft.com/office/drawing/2014/main" val="4222807963"/>
                    </a:ext>
                  </a:extLst>
                </a:gridCol>
                <a:gridCol w="2998846">
                  <a:extLst>
                    <a:ext uri="{9D8B030D-6E8A-4147-A177-3AD203B41FA5}">
                      <a16:colId xmlns:a16="http://schemas.microsoft.com/office/drawing/2014/main" val="10276111"/>
                    </a:ext>
                  </a:extLst>
                </a:gridCol>
                <a:gridCol w="2998846">
                  <a:extLst>
                    <a:ext uri="{9D8B030D-6E8A-4147-A177-3AD203B41FA5}">
                      <a16:colId xmlns:a16="http://schemas.microsoft.com/office/drawing/2014/main" val="4016023999"/>
                    </a:ext>
                  </a:extLst>
                </a:gridCol>
              </a:tblGrid>
              <a:tr h="430733">
                <a:tc>
                  <a:txBody>
                    <a:bodyPr/>
                    <a:lstStyle/>
                    <a:p>
                      <a:pPr algn="ctr"/>
                      <a:r>
                        <a:rPr lang="fr-FR" sz="2400" b="1" i="0" dirty="0">
                          <a:latin typeface="Arial Narrow" panose="020B0604020202020204" pitchFamily="34" charset="0"/>
                          <a:cs typeface="Arial Narrow" panose="020B0604020202020204" pitchFamily="34" charset="0"/>
                        </a:rPr>
                        <a:t>Besoin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1" i="0" dirty="0">
                          <a:latin typeface="Arial Narrow" panose="020B0604020202020204" pitchFamily="34" charset="0"/>
                          <a:cs typeface="Arial Narrow" panose="020B0604020202020204" pitchFamily="34" charset="0"/>
                        </a:rPr>
                        <a:t>Solution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1" i="0" dirty="0">
                          <a:latin typeface="Arial Narrow" panose="020B0604020202020204" pitchFamily="34" charset="0"/>
                          <a:cs typeface="Arial Narrow" panose="020B0604020202020204" pitchFamily="34" charset="0"/>
                        </a:rPr>
                        <a:t>Justification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1216413"/>
                  </a:ext>
                </a:extLst>
              </a:tr>
              <a:tr h="743458">
                <a:tc>
                  <a:txBody>
                    <a:bodyPr/>
                    <a:lstStyle/>
                    <a:p>
                      <a:pPr algn="ctr"/>
                      <a:r>
                        <a:rPr lang="fr-FR" sz="2000" b="0" i="0" dirty="0">
                          <a:latin typeface="Arial Narrow" panose="020B0604020202020204" pitchFamily="34" charset="0"/>
                          <a:cs typeface="Arial Narrow" panose="020B0604020202020204" pitchFamily="34" charset="0"/>
                        </a:rPr>
                        <a:t>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i="0" dirty="0" err="1">
                          <a:latin typeface="Arial Narrow" panose="020B0604020202020204" pitchFamily="34" charset="0"/>
                          <a:cs typeface="Arial Narrow" panose="020B0604020202020204" pitchFamily="34" charset="0"/>
                        </a:rPr>
                        <a:t>FastAPI</a:t>
                      </a:r>
                      <a:endParaRPr lang="fr-FR" sz="2000" b="0" i="0" dirty="0">
                        <a:latin typeface="Arial Narrow" panose="020B0604020202020204" pitchFamily="34" charset="0"/>
                        <a:cs typeface="Arial Narrow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i="0" dirty="0">
                          <a:latin typeface="Arial Narrow" panose="020B0604020202020204" pitchFamily="34" charset="0"/>
                          <a:cs typeface="Arial Narrow" panose="020B0604020202020204" pitchFamily="34" charset="0"/>
                        </a:rPr>
                        <a:t>API légère, rapide et documentée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9683402"/>
                  </a:ext>
                </a:extLst>
              </a:tr>
              <a:tr h="743458">
                <a:tc>
                  <a:txBody>
                    <a:bodyPr/>
                    <a:lstStyle/>
                    <a:p>
                      <a:pPr algn="ctr"/>
                      <a:r>
                        <a:rPr lang="fr-FR" sz="2000" b="0" i="0" dirty="0">
                          <a:latin typeface="Arial Narrow" panose="020B0604020202020204" pitchFamily="34" charset="0"/>
                          <a:cs typeface="Arial Narrow" panose="020B0604020202020204" pitchFamily="34" charset="0"/>
                        </a:rPr>
                        <a:t>Streaming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i="0" dirty="0" err="1">
                          <a:latin typeface="Arial Narrow" panose="020B0604020202020204" pitchFamily="34" charset="0"/>
                          <a:cs typeface="Arial Narrow" panose="020B0604020202020204" pitchFamily="34" charset="0"/>
                        </a:rPr>
                        <a:t>Redpanda</a:t>
                      </a:r>
                      <a:endParaRPr lang="fr-FR" sz="2000" b="0" i="0" dirty="0">
                        <a:latin typeface="Arial Narrow" panose="020B0604020202020204" pitchFamily="34" charset="0"/>
                        <a:cs typeface="Arial Narrow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i="0" dirty="0">
                          <a:latin typeface="Arial Narrow" panose="020B0604020202020204" pitchFamily="34" charset="0"/>
                          <a:cs typeface="Arial Narrow" panose="020B0604020202020204" pitchFamily="34" charset="0"/>
                        </a:rPr>
                        <a:t>Architecture évènementielle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4385331"/>
                  </a:ext>
                </a:extLst>
              </a:tr>
              <a:tr h="430733">
                <a:tc>
                  <a:txBody>
                    <a:bodyPr/>
                    <a:lstStyle/>
                    <a:p>
                      <a:pPr algn="ctr"/>
                      <a:r>
                        <a:rPr lang="fr-FR" sz="2000" b="0" i="0" dirty="0">
                          <a:latin typeface="Arial Narrow" panose="020B0604020202020204" pitchFamily="34" charset="0"/>
                          <a:cs typeface="Arial Narrow" panose="020B0604020202020204" pitchFamily="34" charset="0"/>
                        </a:rPr>
                        <a:t>Base de données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i="0" dirty="0">
                          <a:latin typeface="Arial Narrow" panose="020B0604020202020204" pitchFamily="34" charset="0"/>
                          <a:cs typeface="Arial Narrow" panose="020B0604020202020204" pitchFamily="34" charset="0"/>
                        </a:rPr>
                        <a:t>PostgreSQL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i="0" dirty="0">
                          <a:latin typeface="Arial Narrow" panose="020B0604020202020204" pitchFamily="34" charset="0"/>
                          <a:cs typeface="Arial Narrow" panose="020B0604020202020204" pitchFamily="34" charset="0"/>
                        </a:rPr>
                        <a:t>Fiabilité et SQL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5206051"/>
                  </a:ext>
                </a:extLst>
              </a:tr>
              <a:tr h="743458">
                <a:tc>
                  <a:txBody>
                    <a:bodyPr/>
                    <a:lstStyle/>
                    <a:p>
                      <a:pPr algn="ctr"/>
                      <a:r>
                        <a:rPr lang="fr-FR" sz="2000" b="0" i="0" dirty="0">
                          <a:latin typeface="Arial Narrow" panose="020B0604020202020204" pitchFamily="34" charset="0"/>
                          <a:cs typeface="Arial Narrow" panose="020B0604020202020204" pitchFamily="34" charset="0"/>
                        </a:rPr>
                        <a:t>Orchestration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i="0" dirty="0">
                          <a:latin typeface="Arial Narrow" panose="020B0604020202020204" pitchFamily="34" charset="0"/>
                          <a:cs typeface="Arial Narrow" panose="020B0604020202020204" pitchFamily="34" charset="0"/>
                        </a:rPr>
                        <a:t>Kestra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i="0" dirty="0">
                          <a:latin typeface="Arial Narrow" panose="020B0604020202020204" pitchFamily="34" charset="0"/>
                          <a:cs typeface="Arial Narrow" panose="020B0604020202020204" pitchFamily="34" charset="0"/>
                        </a:rPr>
                        <a:t>Automatisation des traitements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9525924"/>
                  </a:ext>
                </a:extLst>
              </a:tr>
              <a:tr h="430733">
                <a:tc>
                  <a:txBody>
                    <a:bodyPr/>
                    <a:lstStyle/>
                    <a:p>
                      <a:pPr algn="ctr"/>
                      <a:r>
                        <a:rPr lang="fr-FR" sz="2000" b="0" i="0" dirty="0">
                          <a:latin typeface="Arial Narrow" panose="020B0604020202020204" pitchFamily="34" charset="0"/>
                          <a:cs typeface="Arial Narrow" panose="020B0604020202020204" pitchFamily="34" charset="0"/>
                        </a:rPr>
                        <a:t>Qualité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i="0" dirty="0">
                          <a:latin typeface="Arial Narrow" panose="020B0604020202020204" pitchFamily="34" charset="0"/>
                          <a:cs typeface="Arial Narrow" panose="020B0604020202020204" pitchFamily="34" charset="0"/>
                        </a:rPr>
                        <a:t>Soda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i="0" dirty="0">
                          <a:latin typeface="Arial Narrow" panose="020B0604020202020204" pitchFamily="34" charset="0"/>
                          <a:cs typeface="Arial Narrow" panose="020B0604020202020204" pitchFamily="34" charset="0"/>
                        </a:rPr>
                        <a:t>Contrôles automatiques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6419950"/>
                  </a:ext>
                </a:extLst>
              </a:tr>
              <a:tr h="430733">
                <a:tc>
                  <a:txBody>
                    <a:bodyPr/>
                    <a:lstStyle/>
                    <a:p>
                      <a:pPr algn="ctr"/>
                      <a:r>
                        <a:rPr lang="fr-FR" sz="2000" b="0" i="0" dirty="0" err="1">
                          <a:latin typeface="Arial Narrow" panose="020B0604020202020204" pitchFamily="34" charset="0"/>
                          <a:cs typeface="Arial Narrow" panose="020B0604020202020204" pitchFamily="34" charset="0"/>
                        </a:rPr>
                        <a:t>Reporting</a:t>
                      </a:r>
                      <a:endParaRPr lang="fr-FR" sz="2000" b="0" i="0" dirty="0">
                        <a:latin typeface="Arial Narrow" panose="020B0604020202020204" pitchFamily="34" charset="0"/>
                        <a:cs typeface="Arial Narrow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i="0" dirty="0" err="1">
                          <a:latin typeface="Arial Narrow" panose="020B0604020202020204" pitchFamily="34" charset="0"/>
                          <a:cs typeface="Arial Narrow" panose="020B0604020202020204" pitchFamily="34" charset="0"/>
                        </a:rPr>
                        <a:t>Metabase</a:t>
                      </a:r>
                      <a:endParaRPr lang="fr-FR" sz="2000" b="0" i="0" dirty="0">
                        <a:latin typeface="Arial Narrow" panose="020B0604020202020204" pitchFamily="34" charset="0"/>
                        <a:cs typeface="Arial Narrow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i="0" dirty="0">
                          <a:latin typeface="Arial Narrow" panose="020B0604020202020204" pitchFamily="34" charset="0"/>
                          <a:cs typeface="Arial Narrow" panose="020B0604020202020204" pitchFamily="34" charset="0"/>
                        </a:rPr>
                        <a:t>Visualisation simple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2692726"/>
                  </a:ext>
                </a:extLst>
              </a:tr>
              <a:tr h="430733">
                <a:tc>
                  <a:txBody>
                    <a:bodyPr/>
                    <a:lstStyle/>
                    <a:p>
                      <a:pPr algn="ctr"/>
                      <a:r>
                        <a:rPr lang="fr-FR" sz="2000" b="0" i="0" dirty="0">
                          <a:latin typeface="Arial Narrow" panose="020B0604020202020204" pitchFamily="34" charset="0"/>
                          <a:cs typeface="Arial Narrow" panose="020B0604020202020204" pitchFamily="34" charset="0"/>
                        </a:rPr>
                        <a:t>Notifications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i="0" dirty="0">
                          <a:latin typeface="Arial Narrow" panose="020B0604020202020204" pitchFamily="34" charset="0"/>
                          <a:cs typeface="Arial Narrow" panose="020B0604020202020204" pitchFamily="34" charset="0"/>
                        </a:rPr>
                        <a:t>Slack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0" i="0" dirty="0">
                          <a:latin typeface="Arial Narrow" panose="020B0604020202020204" pitchFamily="34" charset="0"/>
                          <a:cs typeface="Arial Narrow" panose="020B0604020202020204" pitchFamily="34" charset="0"/>
                        </a:rPr>
                        <a:t>Alertes en temps réel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74602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24674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75B104-21B2-F77C-B458-FDEB659B3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7DC7A33-FBF0-D81D-1E04-C059E5E22D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547E3DE-E24C-78FD-AF9D-8A5464BC4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609600"/>
            <a:ext cx="7650482" cy="1099457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>
                <a:solidFill>
                  <a:srgbClr val="00B0F0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Difficultés rencontrées</a:t>
            </a:r>
          </a:p>
        </p:txBody>
      </p:sp>
      <p:sp>
        <p:nvSpPr>
          <p:cNvPr id="18" name="Isosceles Triangle 11">
            <a:extLst>
              <a:ext uri="{FF2B5EF4-FFF2-40B4-BE49-F238E27FC236}">
                <a16:creationId xmlns:a16="http://schemas.microsoft.com/office/drawing/2014/main" id="{5549A8BB-704C-DB74-B642-EDF2FDB0E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9" name="Isosceles Triangle 13">
            <a:extLst>
              <a:ext uri="{FF2B5EF4-FFF2-40B4-BE49-F238E27FC236}">
                <a16:creationId xmlns:a16="http://schemas.microsoft.com/office/drawing/2014/main" id="{E7819456-FF90-14C5-7745-8B205F96A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DB6A3C6-050A-C48C-88BD-B7872519EB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5092" y="2367627"/>
            <a:ext cx="9281816" cy="3880773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Les difficultés auxquelles j’ai été confrontées :</a:t>
            </a:r>
          </a:p>
          <a:p>
            <a:pPr>
              <a:buClr>
                <a:srgbClr val="00B0F0"/>
              </a:buClr>
              <a:buFont typeface="Wingdings 3" pitchFamily="2" charset="2"/>
              <a:buChar char=""/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Communication entre conteneurs Docker</a:t>
            </a:r>
          </a:p>
          <a:p>
            <a:pPr>
              <a:buClr>
                <a:srgbClr val="00B0F0"/>
              </a:buClr>
              <a:buFont typeface="Wingdings 3" pitchFamily="2" charset="2"/>
              <a:buChar char=""/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Conflit de ports</a:t>
            </a:r>
          </a:p>
          <a:p>
            <a:pPr>
              <a:buClr>
                <a:srgbClr val="00B0F0"/>
              </a:buClr>
              <a:buFont typeface="Wingdings 3" pitchFamily="2" charset="2"/>
              <a:buChar char=""/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Intégration Soda</a:t>
            </a:r>
          </a:p>
          <a:p>
            <a:pPr>
              <a:buClr>
                <a:srgbClr val="00B0F0"/>
              </a:buClr>
              <a:buFont typeface="Wingdings 3" pitchFamily="2" charset="2"/>
              <a:buChar char=""/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Volumes Docker</a:t>
            </a:r>
          </a:p>
          <a:p>
            <a:pPr marL="0" indent="0">
              <a:buNone/>
            </a:pPr>
            <a:endParaRPr lang="fr-FR" dirty="0"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pPr marL="0" indent="0">
              <a:buNone/>
            </a:pPr>
            <a:endParaRPr lang="fr-FR" dirty="0"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pPr marL="0" indent="0">
              <a:buNone/>
            </a:pPr>
            <a:endParaRPr lang="fr-FR" dirty="0"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pPr marL="0" indent="0">
              <a:buNone/>
            </a:pPr>
            <a:endParaRPr lang="fr-FR" dirty="0"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pPr marL="0" indent="0">
              <a:buNone/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Ce que j’ai mis en place pour palier à ces difficultés :</a:t>
            </a:r>
          </a:p>
          <a:p>
            <a:pPr>
              <a:buClr>
                <a:srgbClr val="00B0F0"/>
              </a:buClr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Architecture Docker</a:t>
            </a:r>
          </a:p>
          <a:p>
            <a:pPr>
              <a:buClr>
                <a:srgbClr val="00B0F0"/>
              </a:buClr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Orchestration</a:t>
            </a:r>
          </a:p>
          <a:p>
            <a:pPr>
              <a:buClr>
                <a:srgbClr val="00B0F0"/>
              </a:buClr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Contrôle qualité</a:t>
            </a:r>
          </a:p>
          <a:p>
            <a:pPr>
              <a:buClr>
                <a:srgbClr val="00B0F0"/>
              </a:buClr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Pipeline événementiel</a:t>
            </a:r>
          </a:p>
          <a:p>
            <a:endParaRPr lang="fr-FR" dirty="0"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6480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5BFB87-EB08-0F3D-8F0A-B19851BF9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FBC0246-AA71-D10B-3503-215F1ADE81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E352AF3-8382-CF43-67DA-C178918A4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609600"/>
            <a:ext cx="6096002" cy="1099457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>
                <a:solidFill>
                  <a:srgbClr val="00B0F0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Conclusion</a:t>
            </a:r>
          </a:p>
        </p:txBody>
      </p:sp>
      <p:sp>
        <p:nvSpPr>
          <p:cNvPr id="18" name="Isosceles Triangle 11">
            <a:extLst>
              <a:ext uri="{FF2B5EF4-FFF2-40B4-BE49-F238E27FC236}">
                <a16:creationId xmlns:a16="http://schemas.microsoft.com/office/drawing/2014/main" id="{98D50022-7870-96EE-4873-636BF308A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9" name="Isosceles Triangle 13">
            <a:extLst>
              <a:ext uri="{FF2B5EF4-FFF2-40B4-BE49-F238E27FC236}">
                <a16:creationId xmlns:a16="http://schemas.microsoft.com/office/drawing/2014/main" id="{6B35EADC-2EF5-E869-E906-0766C34422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2676575-9561-7730-3E8C-4F28AA285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96" y="4341363"/>
            <a:ext cx="6096002" cy="3061062"/>
          </a:xfrm>
        </p:spPr>
        <p:txBody>
          <a:bodyPr numCol="2">
            <a:normAutofit lnSpcReduction="10000"/>
          </a:bodyPr>
          <a:lstStyle/>
          <a:p>
            <a:pPr marL="0" indent="0">
              <a:buNone/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Aujourd'hui</a:t>
            </a:r>
          </a:p>
          <a:p>
            <a:pPr>
              <a:buClr>
                <a:srgbClr val="00B0F0"/>
              </a:buClr>
              <a:buFont typeface="Wingdings" pitchFamily="2" charset="2"/>
              <a:buChar char="Ø"/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Pipeline automatisé</a:t>
            </a:r>
          </a:p>
          <a:p>
            <a:pPr>
              <a:buClr>
                <a:srgbClr val="00B0F0"/>
              </a:buClr>
              <a:buFont typeface="Wingdings" pitchFamily="2" charset="2"/>
              <a:buChar char="Ø"/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Qualité des données</a:t>
            </a:r>
          </a:p>
          <a:p>
            <a:pPr>
              <a:buClr>
                <a:srgbClr val="00B0F0"/>
              </a:buClr>
              <a:buFont typeface="Wingdings" pitchFamily="2" charset="2"/>
              <a:buChar char="Ø"/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Dashboard</a:t>
            </a:r>
          </a:p>
          <a:p>
            <a:pPr>
              <a:buClr>
                <a:srgbClr val="00B0F0"/>
              </a:buClr>
              <a:buFont typeface="Wingdings" pitchFamily="2" charset="2"/>
              <a:buChar char="Ø"/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Notifications</a:t>
            </a:r>
          </a:p>
          <a:p>
            <a:pPr marL="0" indent="0">
              <a:buNone/>
            </a:pPr>
            <a:endParaRPr lang="fr-FR" dirty="0"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pPr marL="0" indent="0">
              <a:buNone/>
            </a:pPr>
            <a:endParaRPr lang="fr-FR" dirty="0"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pPr marL="0" indent="0">
              <a:buNone/>
            </a:pPr>
            <a:endParaRPr lang="fr-FR" dirty="0"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pPr marL="0" indent="0">
              <a:buNone/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Demain</a:t>
            </a:r>
          </a:p>
          <a:p>
            <a:pPr>
              <a:buClr>
                <a:srgbClr val="00B0F0"/>
              </a:buClr>
              <a:buFont typeface="Wingdings" pitchFamily="2" charset="2"/>
              <a:buChar char="Ø"/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Nouvelles sources</a:t>
            </a:r>
          </a:p>
          <a:p>
            <a:pPr>
              <a:buClr>
                <a:srgbClr val="00B0F0"/>
              </a:buClr>
              <a:buFont typeface="Wingdings" pitchFamily="2" charset="2"/>
              <a:buChar char="Ø"/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Objets connectés</a:t>
            </a:r>
          </a:p>
          <a:p>
            <a:pPr>
              <a:buClr>
                <a:srgbClr val="00B0F0"/>
              </a:buClr>
              <a:buFont typeface="Wingdings" pitchFamily="2" charset="2"/>
              <a:buChar char="Ø"/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Cloud</a:t>
            </a:r>
          </a:p>
          <a:p>
            <a:pPr>
              <a:buClr>
                <a:srgbClr val="00B0F0"/>
              </a:buClr>
              <a:buFont typeface="Wingdings" pitchFamily="2" charset="2"/>
              <a:buChar char="Ø"/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Authentification</a:t>
            </a:r>
          </a:p>
          <a:p>
            <a:pPr>
              <a:buClr>
                <a:srgbClr val="00B0F0"/>
              </a:buClr>
              <a:buFont typeface="Wingdings" pitchFamily="2" charset="2"/>
              <a:buChar char="Ø"/>
            </a:pPr>
            <a:r>
              <a:rPr lang="fr-FR" dirty="0">
                <a:latin typeface="Arial Narrow" panose="020B0604020202020204" pitchFamily="34" charset="0"/>
                <a:cs typeface="Arial Narrow" panose="020B0604020202020204" pitchFamily="34" charset="0"/>
              </a:rPr>
              <a:t>Indicateurs avancés</a:t>
            </a:r>
          </a:p>
          <a:p>
            <a:endParaRPr lang="fr-FR" dirty="0"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36CB2D44-73C7-5D9F-2B19-3E512472B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399" y="205740"/>
            <a:ext cx="8499231" cy="5666154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52D1DE96-EFE4-9813-DB44-FAA9246609C1}"/>
              </a:ext>
            </a:extLst>
          </p:cNvPr>
          <p:cNvSpPr txBox="1"/>
          <p:nvPr/>
        </p:nvSpPr>
        <p:spPr>
          <a:xfrm>
            <a:off x="4027252" y="2965941"/>
            <a:ext cx="19330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Nouvelles sources de données</a:t>
            </a:r>
          </a:p>
          <a:p>
            <a:pPr algn="ctr"/>
            <a:r>
              <a:rPr lang="fr-FR" sz="1200" i="1" dirty="0">
                <a:latin typeface="Arial Narrow" panose="020B0604020202020204" pitchFamily="34" charset="0"/>
                <a:cs typeface="Arial Narrow" panose="020B0604020202020204" pitchFamily="34" charset="0"/>
              </a:rPr>
              <a:t>API • IoT • Fichiers</a:t>
            </a:r>
          </a:p>
          <a:p>
            <a:endParaRPr lang="fr-FR" sz="1200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DAA9A96A-3A7C-E739-6666-3A7AF3614916}"/>
              </a:ext>
            </a:extLst>
          </p:cNvPr>
          <p:cNvSpPr txBox="1"/>
          <p:nvPr/>
        </p:nvSpPr>
        <p:spPr>
          <a:xfrm>
            <a:off x="5480570" y="3067917"/>
            <a:ext cx="16719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b="1" dirty="0" err="1">
                <a:latin typeface="Arial Narrow" panose="020B0604020202020204" pitchFamily="34" charset="0"/>
                <a:cs typeface="Arial Narrow" panose="020B0604020202020204" pitchFamily="34" charset="0"/>
              </a:rPr>
              <a:t>Redpanda</a:t>
            </a:r>
            <a:endParaRPr lang="fr-FR" sz="1200" b="1" dirty="0"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pPr algn="ctr"/>
            <a:r>
              <a:rPr lang="fr-FR" sz="1200" i="1" dirty="0">
                <a:latin typeface="Arial Narrow" panose="020B0604020202020204" pitchFamily="34" charset="0"/>
                <a:cs typeface="Arial Narrow" panose="020B0604020202020204" pitchFamily="34" charset="0"/>
              </a:rPr>
              <a:t>Streaming temps réel</a:t>
            </a:r>
          </a:p>
          <a:p>
            <a:pPr algn="ctr">
              <a:buNone/>
            </a:pPr>
            <a:endParaRPr lang="fr-FR" sz="1200" dirty="0"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32CD1A71-9C40-ADAF-3CE9-7C5A2EDDDF68}"/>
              </a:ext>
            </a:extLst>
          </p:cNvPr>
          <p:cNvSpPr txBox="1"/>
          <p:nvPr/>
        </p:nvSpPr>
        <p:spPr>
          <a:xfrm>
            <a:off x="6975567" y="3067916"/>
            <a:ext cx="14349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PostgreSQL</a:t>
            </a:r>
          </a:p>
          <a:p>
            <a:pPr algn="ctr"/>
            <a:r>
              <a:rPr lang="fr-FR" sz="1200" i="1" dirty="0">
                <a:latin typeface="Arial Narrow" panose="020B0604020202020204" pitchFamily="34" charset="0"/>
                <a:cs typeface="Arial Narrow" panose="020B0604020202020204" pitchFamily="34" charset="0"/>
              </a:rPr>
              <a:t>Stockage centralisé</a:t>
            </a:r>
          </a:p>
          <a:p>
            <a:pPr algn="ctr">
              <a:buNone/>
            </a:pPr>
            <a:endParaRPr lang="fr-FR" sz="1200" dirty="0"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701CE4DB-61FF-008A-39E0-D12CB0D86087}"/>
              </a:ext>
            </a:extLst>
          </p:cNvPr>
          <p:cNvSpPr txBox="1"/>
          <p:nvPr/>
        </p:nvSpPr>
        <p:spPr>
          <a:xfrm>
            <a:off x="8306880" y="3067915"/>
            <a:ext cx="14728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IA / Analytics</a:t>
            </a:r>
          </a:p>
          <a:p>
            <a:pPr algn="ctr"/>
            <a:r>
              <a:rPr lang="fr-FR" sz="1200" i="1" dirty="0">
                <a:latin typeface="Arial Narrow" panose="020B0604020202020204" pitchFamily="34" charset="0"/>
                <a:cs typeface="Arial Narrow" panose="020B0604020202020204" pitchFamily="34" charset="0"/>
              </a:rPr>
              <a:t>Indicateurs prédictifs</a:t>
            </a:r>
          </a:p>
          <a:p>
            <a:pPr algn="ctr"/>
            <a:endParaRPr lang="fr-FR" sz="1200" dirty="0"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C257007A-AFE8-5430-8044-4BAA21562AA8}"/>
              </a:ext>
            </a:extLst>
          </p:cNvPr>
          <p:cNvSpPr txBox="1"/>
          <p:nvPr/>
        </p:nvSpPr>
        <p:spPr>
          <a:xfrm>
            <a:off x="9638192" y="3058273"/>
            <a:ext cx="14728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Slack</a:t>
            </a:r>
          </a:p>
          <a:p>
            <a:pPr algn="ctr"/>
            <a:r>
              <a:rPr lang="fr-FR" sz="1200" i="1" dirty="0">
                <a:latin typeface="Arial Narrow" panose="020B0604020202020204" pitchFamily="34" charset="0"/>
                <a:cs typeface="Arial Narrow" panose="020B0604020202020204" pitchFamily="34" charset="0"/>
              </a:rPr>
              <a:t>Notifications temps réel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AD7399CB-5DCD-9C82-2DE3-97E74517C058}"/>
              </a:ext>
            </a:extLst>
          </p:cNvPr>
          <p:cNvSpPr txBox="1"/>
          <p:nvPr/>
        </p:nvSpPr>
        <p:spPr>
          <a:xfrm>
            <a:off x="6847788" y="4013200"/>
            <a:ext cx="272845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Kestra</a:t>
            </a:r>
          </a:p>
          <a:p>
            <a:pPr algn="ctr"/>
            <a:r>
              <a:rPr lang="fr-FR" sz="1400" i="1" dirty="0">
                <a:latin typeface="Arial Narrow" panose="020B0604020202020204" pitchFamily="34" charset="0"/>
                <a:cs typeface="Arial Narrow" panose="020B0604020202020204" pitchFamily="34" charset="0"/>
              </a:rPr>
              <a:t>Orchestration du pipeline</a:t>
            </a:r>
          </a:p>
          <a:p>
            <a:pPr algn="ctr"/>
            <a:endParaRPr lang="fr-FR" sz="1400" dirty="0"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pPr algn="ctr"/>
            <a:r>
              <a:rPr lang="fr-FR" sz="1400" dirty="0">
                <a:latin typeface="Arial Narrow" panose="020B0604020202020204" pitchFamily="34" charset="0"/>
                <a:cs typeface="Arial Narrow" panose="020B0604020202020204" pitchFamily="34" charset="0"/>
              </a:rPr>
              <a:t>Pipeline entièrement automatisé</a:t>
            </a:r>
          </a:p>
          <a:p>
            <a:pPr algn="ctr">
              <a:buNone/>
            </a:pPr>
            <a:endParaRPr lang="fr-FR" sz="1400" dirty="0"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966645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21743</TotalTime>
  <Words>447</Words>
  <Application>Microsoft Macintosh PowerPoint</Application>
  <PresentationFormat>Grand écran</PresentationFormat>
  <Paragraphs>122</Paragraphs>
  <Slides>14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21" baseType="lpstr">
      <vt:lpstr>Aptos</vt:lpstr>
      <vt:lpstr>Arial</vt:lpstr>
      <vt:lpstr>Arial Narrow</vt:lpstr>
      <vt:lpstr>Trebuchet MS</vt:lpstr>
      <vt:lpstr>Wingdings</vt:lpstr>
      <vt:lpstr>Wingdings 3</vt:lpstr>
      <vt:lpstr>Facette</vt:lpstr>
      <vt:lpstr>Conception d'une plateforme de traitement de données sportives</vt:lpstr>
      <vt:lpstr>Contexte</vt:lpstr>
      <vt:lpstr>Objectifs du projet</vt:lpstr>
      <vt:lpstr>Orchestration</vt:lpstr>
      <vt:lpstr>Présentation PowerPoint</vt:lpstr>
      <vt:lpstr>Présentation PowerPoint</vt:lpstr>
      <vt:lpstr>Orchestration (automatisation)</vt:lpstr>
      <vt:lpstr>Architecture de la solution</vt:lpstr>
      <vt:lpstr>Démonstration</vt:lpstr>
      <vt:lpstr>Tableau de bord décisionnel</vt:lpstr>
      <vt:lpstr>Présentation PowerPoint</vt:lpstr>
      <vt:lpstr>Choix techniques</vt:lpstr>
      <vt:lpstr>Difficultés rencontrées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Sokhna Signara Gueye</dc:creator>
  <cp:lastModifiedBy>Sokhna Signara Gueye</cp:lastModifiedBy>
  <cp:revision>2</cp:revision>
  <dcterms:created xsi:type="dcterms:W3CDTF">2026-07-15T21:10:57Z</dcterms:created>
  <dcterms:modified xsi:type="dcterms:W3CDTF">2026-07-30T23:34:35Z</dcterms:modified>
</cp:coreProperties>
</file>